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202" r:id="rId2"/>
    <p:sldId id="2205" r:id="rId3"/>
    <p:sldId id="220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481299212598424"/>
          <c:y val="8.2464339455011165E-2"/>
          <c:w val="0.76523540026246717"/>
          <c:h val="0.713385921918311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VOP (In Cr)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Paithan</c:v>
                </c:pt>
                <c:pt idx="1">
                  <c:v>Dahej</c:v>
                </c:pt>
                <c:pt idx="2">
                  <c:v>Guwahati</c:v>
                </c:pt>
                <c:pt idx="3">
                  <c:v>Chitegaon</c:v>
                </c:pt>
                <c:pt idx="4">
                  <c:v>Pitampur</c:v>
                </c:pt>
                <c:pt idx="5">
                  <c:v>Chikalthana</c:v>
                </c:pt>
                <c:pt idx="6">
                  <c:v>CML</c:v>
                </c:pt>
              </c:strCache>
            </c:strRef>
          </c:cat>
          <c:val>
            <c:numRef>
              <c:f>Sheet1!$B$2:$B$8</c:f>
              <c:numCache>
                <c:formatCode>_ * #,##0_ ;_ * \-#,##0_ ;_ * "-"??_ ;_ @_ </c:formatCode>
                <c:ptCount val="7"/>
                <c:pt idx="0">
                  <c:v>41</c:v>
                </c:pt>
                <c:pt idx="1">
                  <c:v>42</c:v>
                </c:pt>
                <c:pt idx="2">
                  <c:v>72</c:v>
                </c:pt>
                <c:pt idx="3">
                  <c:v>16</c:v>
                </c:pt>
                <c:pt idx="4">
                  <c:v>15</c:v>
                </c:pt>
                <c:pt idx="5">
                  <c:v>6</c:v>
                </c:pt>
                <c:pt idx="6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81-48AA-9222-A956ED6F8B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Inventory (In Cr)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Paithan</c:v>
                </c:pt>
                <c:pt idx="1">
                  <c:v>Dahej</c:v>
                </c:pt>
                <c:pt idx="2">
                  <c:v>Guwahati</c:v>
                </c:pt>
                <c:pt idx="3">
                  <c:v>Chitegaon</c:v>
                </c:pt>
                <c:pt idx="4">
                  <c:v>Pitampur</c:v>
                </c:pt>
                <c:pt idx="5">
                  <c:v>Chikalthana</c:v>
                </c:pt>
                <c:pt idx="6">
                  <c:v>CML</c:v>
                </c:pt>
              </c:strCache>
            </c:strRef>
          </c:cat>
          <c:val>
            <c:numRef>
              <c:f>Sheet1!$C$2:$C$8</c:f>
              <c:numCache>
                <c:formatCode>_ * #,##0_ ;_ * \-#,##0_ ;_ * "-"??_ ;_ @_ </c:formatCode>
                <c:ptCount val="7"/>
                <c:pt idx="0">
                  <c:v>200</c:v>
                </c:pt>
                <c:pt idx="1">
                  <c:v>232</c:v>
                </c:pt>
                <c:pt idx="2">
                  <c:v>76</c:v>
                </c:pt>
                <c:pt idx="3">
                  <c:v>32</c:v>
                </c:pt>
                <c:pt idx="4">
                  <c:v>38</c:v>
                </c:pt>
                <c:pt idx="5">
                  <c:v>5</c:v>
                </c:pt>
                <c:pt idx="6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81-48AA-9222-A956ED6F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10"/>
        <c:axId val="1970224975"/>
        <c:axId val="2004674927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Inventory Turn (No. of month)</c:v>
                </c:pt>
              </c:strCache>
            </c:strRef>
          </c:tx>
          <c:spPr>
            <a:ln w="28575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Pt>
            <c:idx val="1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0-2B28-4FF5-A633-DBE93B8D2338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8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9717C8C-F74F-4ADD-8CF2-88105C9AD762}" type="VALUE">
                      <a:rPr lang="en-US" smtClean="0"/>
                      <a:pPr>
                        <a:defRPr sz="18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endParaRPr lang="en-IN"/>
                  </a:p>
                </c:rich>
              </c:tx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3A61-4B9E-8EC4-33AA1594AF06}"/>
                </c:ext>
              </c:extLst>
            </c:dLbl>
            <c:dLbl>
              <c:idx val="1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2B28-4FF5-A633-DBE93B8D2338}"/>
                </c:ext>
              </c:extLst>
            </c:dLbl>
            <c:dLbl>
              <c:idx val="4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A61-4B9E-8EC4-33AA1594AF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Paithan</c:v>
                </c:pt>
                <c:pt idx="1">
                  <c:v>Dahej</c:v>
                </c:pt>
                <c:pt idx="2">
                  <c:v>Guwahati</c:v>
                </c:pt>
                <c:pt idx="3">
                  <c:v>Chitegaon</c:v>
                </c:pt>
                <c:pt idx="4">
                  <c:v>Pitampur</c:v>
                </c:pt>
                <c:pt idx="5">
                  <c:v>Chikalthana</c:v>
                </c:pt>
                <c:pt idx="6">
                  <c:v>CML</c:v>
                </c:pt>
              </c:strCache>
            </c:strRef>
          </c:cat>
          <c:val>
            <c:numRef>
              <c:f>Sheet1!$D$2:$D$8</c:f>
              <c:numCache>
                <c:formatCode>0</c:formatCode>
                <c:ptCount val="7"/>
                <c:pt idx="0">
                  <c:v>5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F81-48AA-9222-A956ED6F8BF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Bench Mark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Pt>
            <c:idx val="5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2B28-4FF5-A633-DBE93B8D233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Paithan</c:v>
                </c:pt>
                <c:pt idx="1">
                  <c:v>Dahej</c:v>
                </c:pt>
                <c:pt idx="2">
                  <c:v>Guwahati</c:v>
                </c:pt>
                <c:pt idx="3">
                  <c:v>Chitegaon</c:v>
                </c:pt>
                <c:pt idx="4">
                  <c:v>Pitampur</c:v>
                </c:pt>
                <c:pt idx="5">
                  <c:v>Chikalthana</c:v>
                </c:pt>
                <c:pt idx="6">
                  <c:v>CML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F81-48AA-9222-A956ED6F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32359551"/>
        <c:axId val="169395583"/>
      </c:lineChart>
      <c:catAx>
        <c:axId val="1970224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4674927"/>
        <c:crosses val="autoZero"/>
        <c:auto val="1"/>
        <c:lblAlgn val="ctr"/>
        <c:lblOffset val="100"/>
        <c:noMultiLvlLbl val="0"/>
      </c:catAx>
      <c:valAx>
        <c:axId val="2004674927"/>
        <c:scaling>
          <c:orientation val="minMax"/>
          <c:max val="260"/>
        </c:scaling>
        <c:delete val="0"/>
        <c:axPos val="l"/>
        <c:numFmt formatCode="_ * #,##0_ ;_ * \-#,##0_ ;_ * &quot;-&quot;??_ ;_ 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0224975"/>
        <c:crosses val="autoZero"/>
        <c:crossBetween val="between"/>
      </c:valAx>
      <c:valAx>
        <c:axId val="169395583"/>
        <c:scaling>
          <c:orientation val="minMax"/>
        </c:scaling>
        <c:delete val="0"/>
        <c:axPos val="r"/>
        <c:numFmt formatCode="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2359551"/>
        <c:crosses val="max"/>
        <c:crossBetween val="between"/>
      </c:valAx>
      <c:catAx>
        <c:axId val="21323595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9395583"/>
        <c:crosses val="autoZero"/>
        <c:auto val="1"/>
        <c:lblAlgn val="ctr"/>
        <c:lblOffset val="100"/>
        <c:noMultiLvlLbl val="0"/>
      </c:catAx>
      <c:dTable>
        <c:showHorzBorder val="0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1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1.6191765091863528E-2"/>
          <c:y val="0.48476839948397027"/>
          <c:w val="0.18797490157480315"/>
          <c:h val="8.99838861909434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b="1"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520114590220553"/>
          <c:y val="0.12354167919501086"/>
          <c:w val="0.79271861195105664"/>
          <c:h val="0.592919591550419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 YTD (Apr'21-Mar'22)  (In Lacs) 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YTD Difference</c:v>
                </c:pt>
                <c:pt idx="1">
                  <c:v>Tablets</c:v>
                </c:pt>
                <c:pt idx="2">
                  <c:v>Capsules</c:v>
                </c:pt>
                <c:pt idx="3">
                  <c:v>Liquid</c:v>
                </c:pt>
                <c:pt idx="4">
                  <c:v>Jelly</c:v>
                </c:pt>
                <c:pt idx="5">
                  <c:v>Eye Drops</c:v>
                </c:pt>
                <c:pt idx="6">
                  <c:v>Ointment</c:v>
                </c:pt>
                <c:pt idx="7">
                  <c:v>Shampoo/Soap</c:v>
                </c:pt>
                <c:pt idx="8">
                  <c:v>Powder</c:v>
                </c:pt>
                <c:pt idx="9">
                  <c:v>Injections</c:v>
                </c:pt>
              </c:strCache>
            </c:strRef>
          </c:cat>
          <c:val>
            <c:numRef>
              <c:f>Sheet1!$D$2:$D$11</c:f>
              <c:numCache>
                <c:formatCode>"₹"#,##0_);[Red]\("₹"#,##0\)</c:formatCode>
                <c:ptCount val="10"/>
                <c:pt idx="0">
                  <c:v>5248.0619800000004</c:v>
                </c:pt>
                <c:pt idx="1">
                  <c:v>4334.5658400000002</c:v>
                </c:pt>
                <c:pt idx="2">
                  <c:v>840.67742999999996</c:v>
                </c:pt>
                <c:pt idx="3" formatCode="&quot;₹&quot;#,##0.00_);[Red]\(&quot;₹&quot;#,##0.00\)">
                  <c:v>10.413650000000001</c:v>
                </c:pt>
                <c:pt idx="4">
                  <c:v>19.55678</c:v>
                </c:pt>
                <c:pt idx="5">
                  <c:v>17.036860000000001</c:v>
                </c:pt>
                <c:pt idx="6">
                  <c:v>10.55092</c:v>
                </c:pt>
                <c:pt idx="7">
                  <c:v>1.1308199999999999</c:v>
                </c:pt>
                <c:pt idx="8">
                  <c:v>12.265180000000001</c:v>
                </c:pt>
                <c:pt idx="9" formatCode="&quot;₹&quot;#,##0.00_);[Red]\(&quot;₹&quot;#,##0.00\)">
                  <c:v>1.8645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AF81-48AA-9222-A956ED6F8BF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 YTD (Apr'22-Mar'23) (In Lacs) 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YTD Difference</c:v>
                </c:pt>
                <c:pt idx="1">
                  <c:v>Tablets</c:v>
                </c:pt>
                <c:pt idx="2">
                  <c:v>Capsules</c:v>
                </c:pt>
                <c:pt idx="3">
                  <c:v>Liquid</c:v>
                </c:pt>
                <c:pt idx="4">
                  <c:v>Jelly</c:v>
                </c:pt>
                <c:pt idx="5">
                  <c:v>Eye Drops</c:v>
                </c:pt>
                <c:pt idx="6">
                  <c:v>Ointment</c:v>
                </c:pt>
                <c:pt idx="7">
                  <c:v>Shampoo/Soap</c:v>
                </c:pt>
                <c:pt idx="8">
                  <c:v>Powder</c:v>
                </c:pt>
                <c:pt idx="9">
                  <c:v>Injections</c:v>
                </c:pt>
              </c:strCache>
            </c:strRef>
          </c:cat>
          <c:val>
            <c:numRef>
              <c:f>Sheet1!$E$2:$E$11</c:f>
              <c:numCache>
                <c:formatCode>"₹"#,##0_);[Red]\("₹"#,##0\)</c:formatCode>
                <c:ptCount val="10"/>
                <c:pt idx="0">
                  <c:v>4330.5291399999996</c:v>
                </c:pt>
                <c:pt idx="1">
                  <c:v>3312.3742499999998</c:v>
                </c:pt>
                <c:pt idx="2">
                  <c:v>931.38184999999999</c:v>
                </c:pt>
                <c:pt idx="3" formatCode="&quot;₹&quot;#,##0.00_);[Red]\(&quot;₹&quot;#,##0.00\)">
                  <c:v>12.500529999999999</c:v>
                </c:pt>
                <c:pt idx="4">
                  <c:v>16.931519999999999</c:v>
                </c:pt>
                <c:pt idx="5">
                  <c:v>18.03715</c:v>
                </c:pt>
                <c:pt idx="6">
                  <c:v>10.126289999999999</c:v>
                </c:pt>
                <c:pt idx="7">
                  <c:v>4.93506</c:v>
                </c:pt>
                <c:pt idx="8">
                  <c:v>22.718489999999999</c:v>
                </c:pt>
                <c:pt idx="9" formatCode="&quot;₹&quot;#,##0.00_);[Red]\(&quot;₹&quot;#,##0.00\)">
                  <c:v>1.524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81-48AA-9222-A956ED6F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382927"/>
        <c:axId val="79170175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YTD Comparative Difference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8642026116539257E-2"/>
                  <c:y val="3.4986086860927364E-2"/>
                </c:manualLayout>
              </c:layout>
              <c:numFmt formatCode="&quot;₹&quot;\ #,##0\ \L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8A4-489C-8F45-A1B42F600B8B}"/>
                </c:ext>
              </c:extLst>
            </c:dLbl>
            <c:dLbl>
              <c:idx val="1"/>
              <c:layout>
                <c:manualLayout>
                  <c:x val="-2.5235958017437544E-2"/>
                  <c:y val="3.4986086860927287E-2"/>
                </c:manualLayout>
              </c:layout>
              <c:numFmt formatCode="&quot;₹&quot;\ #,##0\ \L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C49-46EA-9F06-2132DFF1E5FC}"/>
                </c:ext>
              </c:extLst>
            </c:dLbl>
            <c:dLbl>
              <c:idx val="2"/>
              <c:layout>
                <c:manualLayout>
                  <c:x val="-2.2409449475381767E-2"/>
                  <c:y val="8.0864380795956647E-2"/>
                </c:manualLayout>
              </c:layout>
              <c:numFmt formatCode="&quot;₹&quot;\ #,##0\ \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58-4260-99FD-66850D89448A}"/>
                </c:ext>
              </c:extLst>
            </c:dLbl>
            <c:dLbl>
              <c:idx val="3"/>
              <c:numFmt formatCode="&quot;₹&quot;\ #,##0\ \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7C49-46EA-9F06-2132DFF1E5FC}"/>
                </c:ext>
              </c:extLst>
            </c:dLbl>
            <c:dLbl>
              <c:idx val="4"/>
              <c:numFmt formatCode="&quot;₹&quot;\ #,##0\ \L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8A4-489C-8F45-A1B42F600B8B}"/>
                </c:ext>
              </c:extLst>
            </c:dLbl>
            <c:dLbl>
              <c:idx val="5"/>
              <c:numFmt formatCode="&quot;₹&quot;\ #,##0\ \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7C49-46EA-9F06-2132DFF1E5FC}"/>
                </c:ext>
              </c:extLst>
            </c:dLbl>
            <c:dLbl>
              <c:idx val="6"/>
              <c:numFmt formatCode="&quot;₹&quot;\ #,##0.00\ \L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7C49-46EA-9F06-2132DFF1E5FC}"/>
                </c:ext>
              </c:extLst>
            </c:dLbl>
            <c:dLbl>
              <c:idx val="7"/>
              <c:numFmt formatCode="&quot;₹&quot;\ #,##0\ \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58A-419A-8266-8D3CDBA71D6B}"/>
                </c:ext>
              </c:extLst>
            </c:dLbl>
            <c:dLbl>
              <c:idx val="9"/>
              <c:numFmt formatCode="&quot;₹&quot;\ #,##0.00\ \L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458A-419A-8266-8D3CDBA71D6B}"/>
                </c:ext>
              </c:extLst>
            </c:dLbl>
            <c:numFmt formatCode="&quot;₹&quot;\ #,##0\ \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YTD Difference</c:v>
                </c:pt>
                <c:pt idx="1">
                  <c:v>Tablets</c:v>
                </c:pt>
                <c:pt idx="2">
                  <c:v>Capsules</c:v>
                </c:pt>
                <c:pt idx="3">
                  <c:v>Liquid</c:v>
                </c:pt>
                <c:pt idx="4">
                  <c:v>Jelly</c:v>
                </c:pt>
                <c:pt idx="5">
                  <c:v>Eye Drops</c:v>
                </c:pt>
                <c:pt idx="6">
                  <c:v>Ointment</c:v>
                </c:pt>
                <c:pt idx="7">
                  <c:v>Shampoo/Soap</c:v>
                </c:pt>
                <c:pt idx="8">
                  <c:v>Powder</c:v>
                </c:pt>
                <c:pt idx="9">
                  <c:v>Injections</c:v>
                </c:pt>
              </c:strCache>
            </c:strRef>
          </c:cat>
          <c:val>
            <c:numRef>
              <c:f>Sheet1!$B$2:$B$11</c:f>
              <c:numCache>
                <c:formatCode>_(* #,##0_);_(* \(#,##0\);_(* "-"??_);_(@_)</c:formatCode>
                <c:ptCount val="10"/>
                <c:pt idx="0">
                  <c:v>-917.53284000000099</c:v>
                </c:pt>
                <c:pt idx="1">
                  <c:v>-1022.19159</c:v>
                </c:pt>
                <c:pt idx="2">
                  <c:v>90.704420000000098</c:v>
                </c:pt>
                <c:pt idx="3" formatCode="_(* #,##0_);_(* \(#,##0\);_(* &quot;-&quot;_);_(@_)">
                  <c:v>2.0868799999999998</c:v>
                </c:pt>
                <c:pt idx="4" formatCode="_(* #,##0_);_(* \(#,##0\);_(* &quot;-&quot;_);_(@_)">
                  <c:v>-2.6252599999999999</c:v>
                </c:pt>
                <c:pt idx="5" formatCode="_(* #,##0_);_(* \(#,##0\);_(* &quot;-&quot;_);_(@_)">
                  <c:v>1.0002899999999999</c:v>
                </c:pt>
                <c:pt idx="6" formatCode="_(* #,##0.00_);_(* \(#,##0.00\);_(* &quot;-&quot;??_);_(@_)">
                  <c:v>-0.42463000000000101</c:v>
                </c:pt>
                <c:pt idx="7" formatCode="_(* #,##0_);_(* \(#,##0\);_(* &quot;-&quot;_);_(@_)">
                  <c:v>3.8042400000000001</c:v>
                </c:pt>
                <c:pt idx="8" formatCode="_(* #,##0_);_(* \(#,##0\);_(* &quot;-&quot;_);_(@_)">
                  <c:v>10.45331</c:v>
                </c:pt>
                <c:pt idx="9" formatCode="_(* #,##0.00_);_(* \(#,##0.00\);_(* &quot;-&quot;??_);_(@_)">
                  <c:v>-0.34050000000000002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81-48AA-9222-A956ED6F8B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YTD Comparative Growth %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2-28A4-489C-8F45-A1B42F600B8B}"/>
                </c:ext>
              </c:extLst>
            </c:dLbl>
            <c:dLbl>
              <c:idx val="1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28A4-489C-8F45-A1B42F600B8B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4-28A4-489C-8F45-A1B42F600B8B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8-7C49-46EA-9F06-2132DFF1E5FC}"/>
                </c:ext>
              </c:extLst>
            </c:dLbl>
            <c:dLbl>
              <c:idx val="4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28A4-489C-8F45-A1B42F600B8B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7C49-46EA-9F06-2132DFF1E5FC}"/>
                </c:ext>
              </c:extLst>
            </c:dLbl>
            <c:dLbl>
              <c:idx val="6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A-7C49-46EA-9F06-2132DFF1E5FC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6-458A-419A-8266-8D3CDBA71D6B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0F58-4260-99FD-66850D89448A}"/>
                </c:ext>
              </c:extLst>
            </c:dLbl>
            <c:dLbl>
              <c:idx val="9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8-458A-419A-8266-8D3CDBA71D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YTD Difference</c:v>
                </c:pt>
                <c:pt idx="1">
                  <c:v>Tablets</c:v>
                </c:pt>
                <c:pt idx="2">
                  <c:v>Capsules</c:v>
                </c:pt>
                <c:pt idx="3">
                  <c:v>Liquid</c:v>
                </c:pt>
                <c:pt idx="4">
                  <c:v>Jelly</c:v>
                </c:pt>
                <c:pt idx="5">
                  <c:v>Eye Drops</c:v>
                </c:pt>
                <c:pt idx="6">
                  <c:v>Ointment</c:v>
                </c:pt>
                <c:pt idx="7">
                  <c:v>Shampoo/Soap</c:v>
                </c:pt>
                <c:pt idx="8">
                  <c:v>Powder</c:v>
                </c:pt>
                <c:pt idx="9">
                  <c:v>Injections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-0.17483269890802655</c:v>
                </c:pt>
                <c:pt idx="1">
                  <c:v>-0.23582329297367427</c:v>
                </c:pt>
                <c:pt idx="2">
                  <c:v>0.1078944393689743</c:v>
                </c:pt>
                <c:pt idx="3">
                  <c:v>0.20039851541006282</c:v>
                </c:pt>
                <c:pt idx="4">
                  <c:v>-0.13423784488039447</c:v>
                </c:pt>
                <c:pt idx="5">
                  <c:v>5.8713284020647044E-2</c:v>
                </c:pt>
                <c:pt idx="6">
                  <c:v>-4.0245779514961812E-2</c:v>
                </c:pt>
                <c:pt idx="7">
                  <c:v>3.3641428344033533</c:v>
                </c:pt>
                <c:pt idx="8">
                  <c:v>0.85227530293073595</c:v>
                </c:pt>
                <c:pt idx="9">
                  <c:v>-0.1826226870474659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81-48AA-9222-A956ED6F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82927"/>
        <c:axId val="79170175"/>
      </c:lineChart>
      <c:valAx>
        <c:axId val="79170175"/>
        <c:scaling>
          <c:orientation val="minMax"/>
          <c:max val="500"/>
        </c:scaling>
        <c:delete val="1"/>
        <c:axPos val="r"/>
        <c:numFmt formatCode="&quot;₹&quot;#,##0_);[Red]\(&quot;₹&quot;#,##0\)" sourceLinked="1"/>
        <c:majorTickMark val="out"/>
        <c:minorTickMark val="none"/>
        <c:tickLblPos val="nextTo"/>
        <c:crossAx val="89382927"/>
        <c:crosses val="max"/>
        <c:crossBetween val="between"/>
        <c:majorUnit val="500"/>
      </c:valAx>
      <c:catAx>
        <c:axId val="893829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9170175"/>
        <c:crosses val="autoZero"/>
        <c:auto val="1"/>
        <c:lblAlgn val="ctr"/>
        <c:lblOffset val="100"/>
        <c:noMultiLvlLbl val="0"/>
      </c:catAx>
      <c:dTable>
        <c:showHorzBorder val="0"/>
        <c:showVertBorder val="1"/>
        <c:showOutline val="1"/>
        <c:showKeys val="1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l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77385007858647059"/>
          <c:y val="1.8724712488500488E-2"/>
          <c:w val="0.22463060755273681"/>
          <c:h val="9.83171037788013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997538352826595"/>
          <c:y val="0.12354167919501086"/>
          <c:w val="0.77791924516366229"/>
          <c:h val="0.5929195915504194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YTD VOP (Apr'21-Mar'22) (1 Month)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YTD Difference</c:v>
                </c:pt>
                <c:pt idx="1">
                  <c:v>Paithan</c:v>
                </c:pt>
                <c:pt idx="2">
                  <c:v>Dahej</c:v>
                </c:pt>
                <c:pt idx="3">
                  <c:v>Guwahati</c:v>
                </c:pt>
                <c:pt idx="4">
                  <c:v>Chitegaon</c:v>
                </c:pt>
                <c:pt idx="5">
                  <c:v>Pitampur</c:v>
                </c:pt>
                <c:pt idx="6">
                  <c:v>Chikalthana</c:v>
                </c:pt>
                <c:pt idx="7">
                  <c:v>CMD</c:v>
                </c:pt>
                <c:pt idx="8">
                  <c:v>TP</c:v>
                </c:pt>
              </c:strCache>
            </c:strRef>
          </c:cat>
          <c:val>
            <c:numRef>
              <c:f>Sheet1!$D$2:$D$10</c:f>
              <c:numCache>
                <c:formatCode>_(* #,##0_);_(* \(#,##0\);_(* "-"_);_(@_)</c:formatCode>
                <c:ptCount val="9"/>
                <c:pt idx="0">
                  <c:v>254.86215912258729</c:v>
                </c:pt>
                <c:pt idx="1">
                  <c:v>66.606430346025988</c:v>
                </c:pt>
                <c:pt idx="2">
                  <c:v>39.703443138735381</c:v>
                </c:pt>
                <c:pt idx="3">
                  <c:v>64.137259181761777</c:v>
                </c:pt>
                <c:pt idx="4">
                  <c:v>13.10300152471121</c:v>
                </c:pt>
                <c:pt idx="5">
                  <c:v>10.552798237251812</c:v>
                </c:pt>
                <c:pt idx="6">
                  <c:v>9.2694507439126816</c:v>
                </c:pt>
                <c:pt idx="7">
                  <c:v>40.280058910524829</c:v>
                </c:pt>
                <c:pt idx="8">
                  <c:v>11.209717039663635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AF81-48AA-9222-A956ED6F8BF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YTD VOP (Apr'22-Mar'23) (1 Month)</c:v>
                </c:pt>
              </c:strCache>
            </c:strRef>
          </c:tx>
          <c:spPr>
            <a:solidFill>
              <a:schemeClr val="bg1"/>
            </a:solidFill>
            <a:ln>
              <a:solidFill>
                <a:schemeClr val="bg1"/>
              </a:solidFill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YTD Difference</c:v>
                </c:pt>
                <c:pt idx="1">
                  <c:v>Paithan</c:v>
                </c:pt>
                <c:pt idx="2">
                  <c:v>Dahej</c:v>
                </c:pt>
                <c:pt idx="3">
                  <c:v>Guwahati</c:v>
                </c:pt>
                <c:pt idx="4">
                  <c:v>Chitegaon</c:v>
                </c:pt>
                <c:pt idx="5">
                  <c:v>Pitampur</c:v>
                </c:pt>
                <c:pt idx="6">
                  <c:v>Chikalthana</c:v>
                </c:pt>
                <c:pt idx="7">
                  <c:v>CMD</c:v>
                </c:pt>
                <c:pt idx="8">
                  <c:v>TP</c:v>
                </c:pt>
              </c:strCache>
            </c:strRef>
          </c:cat>
          <c:val>
            <c:numRef>
              <c:f>Sheet1!$E$2:$E$10</c:f>
              <c:numCache>
                <c:formatCode>_(* #,##0_);_(* \(#,##0\);_(* "-"_);_(@_)</c:formatCode>
                <c:ptCount val="9"/>
                <c:pt idx="0">
                  <c:v>250.63043045355761</c:v>
                </c:pt>
                <c:pt idx="1">
                  <c:v>41.214131198046523</c:v>
                </c:pt>
                <c:pt idx="2">
                  <c:v>42.320579973145144</c:v>
                </c:pt>
                <c:pt idx="3">
                  <c:v>71.659408887848684</c:v>
                </c:pt>
                <c:pt idx="4">
                  <c:v>16.148025784149571</c:v>
                </c:pt>
                <c:pt idx="5">
                  <c:v>15.062001697959497</c:v>
                </c:pt>
                <c:pt idx="6">
                  <c:v>5.5696955790122926</c:v>
                </c:pt>
                <c:pt idx="7">
                  <c:v>42.219633566859855</c:v>
                </c:pt>
                <c:pt idx="8">
                  <c:v>16.436953766536032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81-48AA-9222-A956ED6F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9382927"/>
        <c:axId val="79170175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 YTD Comparative Difference 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6.5956698039830411E-2"/>
                  <c:y val="2.4099049074981692E-2"/>
                </c:manualLayout>
              </c:layout>
              <c:numFmt formatCode="&quot;₹&quot;\ #,##0\ \C\r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4C0-4452-9388-4B79BB5DE637}"/>
                </c:ext>
              </c:extLst>
            </c:dLbl>
            <c:dLbl>
              <c:idx val="1"/>
              <c:layout>
                <c:manualLayout>
                  <c:x val="4.1864463706613132E-3"/>
                  <c:y val="-1.0914262703568722E-2"/>
                </c:manualLayout>
              </c:layout>
              <c:numFmt formatCode="&quot;₹&quot;\ #,##0\ \C\r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C49-46EA-9F06-2132DFF1E5FC}"/>
                </c:ext>
              </c:extLst>
            </c:dLbl>
            <c:dLbl>
              <c:idx val="2"/>
              <c:numFmt formatCode="&quot;₹&quot;\ #,##0\ \C\r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0F58-4260-99FD-66850D89448A}"/>
                </c:ext>
              </c:extLst>
            </c:dLbl>
            <c:dLbl>
              <c:idx val="3"/>
              <c:numFmt formatCode="&quot;₹&quot;\ #,##0\ \C\r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7C49-46EA-9F06-2132DFF1E5FC}"/>
                </c:ext>
              </c:extLst>
            </c:dLbl>
            <c:dLbl>
              <c:idx val="4"/>
              <c:numFmt formatCode="&quot;₹&quot;\ #,##0\ \C\r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9EFD-4674-97B9-F40A733DE1A2}"/>
                </c:ext>
              </c:extLst>
            </c:dLbl>
            <c:dLbl>
              <c:idx val="5"/>
              <c:numFmt formatCode="&quot;₹&quot;\ #,##0\ \C\r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7C49-46EA-9F06-2132DFF1E5FC}"/>
                </c:ext>
              </c:extLst>
            </c:dLbl>
            <c:dLbl>
              <c:idx val="6"/>
              <c:layout>
                <c:manualLayout>
                  <c:x val="-3.0262363579317053E-2"/>
                  <c:y val="2.7255761042417975E-2"/>
                </c:manualLayout>
              </c:layout>
              <c:numFmt formatCode="&quot;₹&quot;\ #,##0\ \C\r" sourceLinked="0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984557723730247E-2"/>
                      <c:h val="4.590034956449608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7C49-46EA-9F06-2132DFF1E5FC}"/>
                </c:ext>
              </c:extLst>
            </c:dLbl>
            <c:dLbl>
              <c:idx val="7"/>
              <c:numFmt formatCode="&quot;₹&quot;\ #,##0\ \C\r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458A-419A-8266-8D3CDBA71D6B}"/>
                </c:ext>
              </c:extLst>
            </c:dLbl>
            <c:dLbl>
              <c:idx val="9"/>
              <c:numFmt formatCode="&quot;₹&quot;\ #,##0\ \C\r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458A-419A-8266-8D3CDBA71D6B}"/>
                </c:ext>
              </c:extLst>
            </c:dLbl>
            <c:numFmt formatCode="&quot;₹&quot;\ #,##0\ \C\r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YTD Difference</c:v>
                </c:pt>
                <c:pt idx="1">
                  <c:v>Paithan</c:v>
                </c:pt>
                <c:pt idx="2">
                  <c:v>Dahej</c:v>
                </c:pt>
                <c:pt idx="3">
                  <c:v>Guwahati</c:v>
                </c:pt>
                <c:pt idx="4">
                  <c:v>Chitegaon</c:v>
                </c:pt>
                <c:pt idx="5">
                  <c:v>Pitampur</c:v>
                </c:pt>
                <c:pt idx="6">
                  <c:v>Chikalthana</c:v>
                </c:pt>
                <c:pt idx="7">
                  <c:v>CMD</c:v>
                </c:pt>
                <c:pt idx="8">
                  <c:v>TP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-4.2317286690297156</c:v>
                </c:pt>
                <c:pt idx="1">
                  <c:v>-25.392299147979465</c:v>
                </c:pt>
                <c:pt idx="2">
                  <c:v>2.617136834409763</c:v>
                </c:pt>
                <c:pt idx="3">
                  <c:v>7.5221497060869069</c:v>
                </c:pt>
                <c:pt idx="4">
                  <c:v>3.0450242594383603</c:v>
                </c:pt>
                <c:pt idx="5">
                  <c:v>4.5092034607076847</c:v>
                </c:pt>
                <c:pt idx="6">
                  <c:v>-3.699755164900389</c:v>
                </c:pt>
                <c:pt idx="7">
                  <c:v>1.9395746563350258</c:v>
                </c:pt>
                <c:pt idx="8">
                  <c:v>5.2272367268723965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81-48AA-9222-A956ED6F8B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YTD Comparative Growth % 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5.4437316202621155E-2"/>
                  <c:y val="5.0722778485491615E-3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7507489076476499E-2"/>
                      <c:h val="5.172269112452177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EFD-4674-97B9-F40A733DE1A2}"/>
                </c:ext>
              </c:extLst>
            </c:dLbl>
            <c:dLbl>
              <c:idx val="1"/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2-9EFD-4674-97B9-F40A733DE1A2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9EFD-4674-97B9-F40A733DE1A2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8-7C49-46EA-9F06-2132DFF1E5FC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4-9EFD-4674-97B9-F40A733DE1A2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7C49-46EA-9F06-2132DFF1E5FC}"/>
                </c:ext>
              </c:extLst>
            </c:dLbl>
            <c:dLbl>
              <c:idx val="6"/>
              <c:layout>
                <c:manualLayout>
                  <c:x val="-2.568832878505602E-2"/>
                  <c:y val="-3.2623377554296049E-2"/>
                </c:manualLayout>
              </c:layout>
              <c:spPr>
                <a:noFill/>
                <a:ln>
                  <a:solidFill>
                    <a:srgbClr val="FF0000"/>
                  </a:solidFill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033661839603993E-2"/>
                      <c:h val="4.635817618553746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A-7C49-46EA-9F06-2132DFF1E5FC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6-458A-419A-8266-8D3CDBA71D6B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0F58-4260-99FD-66850D89448A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38100" tIns="19050" rIns="38100" bIns="19050" anchor="ctr" anchorCtr="1">
                  <a:normAutofit/>
                </a:bodyPr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458A-419A-8266-8D3CDBA71D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YTD Difference</c:v>
                </c:pt>
                <c:pt idx="1">
                  <c:v>Paithan</c:v>
                </c:pt>
                <c:pt idx="2">
                  <c:v>Dahej</c:v>
                </c:pt>
                <c:pt idx="3">
                  <c:v>Guwahati</c:v>
                </c:pt>
                <c:pt idx="4">
                  <c:v>Chitegaon</c:v>
                </c:pt>
                <c:pt idx="5">
                  <c:v>Pitampur</c:v>
                </c:pt>
                <c:pt idx="6">
                  <c:v>Chikalthana</c:v>
                </c:pt>
                <c:pt idx="7">
                  <c:v>CMD</c:v>
                </c:pt>
                <c:pt idx="8">
                  <c:v>TP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-1.6603989715845733E-2</c:v>
                </c:pt>
                <c:pt idx="1">
                  <c:v>-0.38122894465390716</c:v>
                </c:pt>
                <c:pt idx="2">
                  <c:v>6.5917125254470382E-2</c:v>
                </c:pt>
                <c:pt idx="3">
                  <c:v>0.11728205729480132</c:v>
                </c:pt>
                <c:pt idx="4">
                  <c:v>0.23239135351512313</c:v>
                </c:pt>
                <c:pt idx="5">
                  <c:v>0.42729931524607484</c:v>
                </c:pt>
                <c:pt idx="6">
                  <c:v>-0.39913423859876984</c:v>
                </c:pt>
                <c:pt idx="7">
                  <c:v>4.8152229882370695E-2</c:v>
                </c:pt>
                <c:pt idx="8">
                  <c:v>0.46631299508959306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81-48AA-9222-A956ED6F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382927"/>
        <c:axId val="79170175"/>
      </c:lineChart>
      <c:valAx>
        <c:axId val="79170175"/>
        <c:scaling>
          <c:orientation val="minMax"/>
          <c:max val="10"/>
        </c:scaling>
        <c:delete val="0"/>
        <c:axPos val="r"/>
        <c:numFmt formatCode="_(* #,##0_);_(* \(#,##0\);_(* &quot;-&quot;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382927"/>
        <c:crosses val="max"/>
        <c:crossBetween val="between"/>
        <c:majorUnit val="10"/>
        <c:minorUnit val="5"/>
      </c:valAx>
      <c:catAx>
        <c:axId val="8938292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9170175"/>
        <c:crosses val="autoZero"/>
        <c:auto val="1"/>
        <c:lblAlgn val="ctr"/>
        <c:lblOffset val="100"/>
        <c:noMultiLvlLbl val="0"/>
      </c:catAx>
      <c:dTable>
        <c:showHorzBorder val="0"/>
        <c:showVertBorder val="1"/>
        <c:showOutline val="1"/>
        <c:showKeys val="1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l"/>
      <c:legendEntry>
        <c:idx val="0"/>
        <c:delete val="1"/>
      </c:legendEntry>
      <c:legendEntry>
        <c:idx val="1"/>
        <c:delete val="1"/>
      </c:legendEntry>
      <c:layout>
        <c:manualLayout>
          <c:xMode val="edge"/>
          <c:yMode val="edge"/>
          <c:x val="0.78113092610005297"/>
          <c:y val="0.6301979130894475"/>
          <c:w val="0.18921432120593112"/>
          <c:h val="8.97371192970043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0.01434</cdr:x>
      <cdr:y>0.70702</cdr:y>
    </cdr:from>
    <cdr:to>
      <cdr:x>0.38934</cdr:x>
      <cdr:y>0.7579</cdr:y>
    </cdr:to>
    <cdr:sp macro="" textlink="">
      <cdr:nvSpPr>
        <cdr:cNvPr id="2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D984D13B-FD52-4C24-B1B7-DC11A6A73F6B}"/>
            </a:ext>
          </a:extLst>
        </cdr:cNvPr>
        <cdr:cNvSpPr/>
      </cdr:nvSpPr>
      <cdr:spPr>
        <a:xfrm xmlns:a="http://schemas.openxmlformats.org/drawingml/2006/main">
          <a:off x="174862" y="4084025"/>
          <a:ext cx="4571950" cy="293893"/>
        </a:xfrm>
        <a:prstGeom xmlns:a="http://schemas.openxmlformats.org/drawingml/2006/main" prst="wedgeRectCallout">
          <a:avLst>
            <a:gd name="adj1" fmla="val 48464"/>
            <a:gd name="adj2" fmla="val 21139"/>
          </a:avLst>
        </a:prstGeom>
        <a:solidFill xmlns:a="http://schemas.openxmlformats.org/drawingml/2006/main">
          <a:schemeClr val="bg2">
            <a:lumMod val="25000"/>
          </a:schemeClr>
        </a:solidFill>
        <a:ln xmlns:a="http://schemas.openxmlformats.org/drawingml/2006/main" w="25400" cmpd="sng">
          <a:solidFill>
            <a:schemeClr val="tx1"/>
          </a:solidFill>
          <a:prstDash val="sysDot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1600" dirty="0">
              <a:solidFill>
                <a:schemeClr val="bg1"/>
              </a:solidFill>
            </a:rPr>
            <a:t>In  Apr-22, Overall inventory turn is </a:t>
          </a:r>
          <a:r>
            <a:rPr lang="en-US" sz="2000" b="1" dirty="0">
              <a:solidFill>
                <a:schemeClr val="bg1"/>
              </a:solidFill>
            </a:rPr>
            <a:t>3 months</a:t>
          </a:r>
          <a:endParaRPr lang="en-IN" sz="2000" b="1" dirty="0">
            <a:solidFill>
              <a:schemeClr val="bg1"/>
            </a:solidFill>
          </a:endParaRPr>
        </a:p>
      </cdr:txBody>
    </cdr:sp>
  </cdr:relSizeAnchor>
  <cdr:relSizeAnchor xmlns:cdr="http://schemas.openxmlformats.org/drawingml/2006/chartDrawing">
    <cdr:from>
      <cdr:x>0.75827</cdr:x>
      <cdr:y>0.32925</cdr:y>
    </cdr:from>
    <cdr:to>
      <cdr:x>0.95533</cdr:x>
      <cdr:y>0.48351</cdr:y>
    </cdr:to>
    <cdr:sp macro="" textlink="">
      <cdr:nvSpPr>
        <cdr:cNvPr id="3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D984D13B-FD52-4C24-B1B7-DC11A6A73F6B}"/>
            </a:ext>
          </a:extLst>
        </cdr:cNvPr>
        <cdr:cNvSpPr/>
      </cdr:nvSpPr>
      <cdr:spPr>
        <a:xfrm xmlns:a="http://schemas.openxmlformats.org/drawingml/2006/main">
          <a:off x="9244853" y="1901894"/>
          <a:ext cx="2402541" cy="891035"/>
        </a:xfrm>
        <a:prstGeom xmlns:a="http://schemas.openxmlformats.org/drawingml/2006/main" prst="wedgeRectCallout">
          <a:avLst>
            <a:gd name="adj1" fmla="val -79364"/>
            <a:gd name="adj2" fmla="val -10079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50000"/>
            </a:lnSpc>
          </a:pPr>
          <a:r>
            <a:rPr lang="en-US" sz="1200" dirty="0">
              <a:solidFill>
                <a:schemeClr val="bg2">
                  <a:lumMod val="50000"/>
                </a:schemeClr>
              </a:solidFill>
            </a:rPr>
            <a:t>After excluding Control/stability stock/ Approved Destruction (4 Cr) </a:t>
          </a:r>
          <a:r>
            <a:rPr lang="en-US" sz="1200" dirty="0">
              <a:solidFill>
                <a:schemeClr val="tx1"/>
              </a:solidFill>
            </a:rPr>
            <a:t>, </a:t>
          </a:r>
          <a:r>
            <a:rPr lang="en-US" sz="1200" b="1" dirty="0">
              <a:solidFill>
                <a:schemeClr val="tx1"/>
              </a:solidFill>
            </a:rPr>
            <a:t>Inventory Turn will be </a:t>
          </a:r>
          <a:r>
            <a:rPr lang="en-US" sz="1400" b="1" dirty="0">
              <a:solidFill>
                <a:schemeClr val="tx1"/>
              </a:solidFill>
            </a:rPr>
            <a:t>2 month</a:t>
          </a:r>
          <a:r>
            <a:rPr lang="en-US" sz="1200" b="1" dirty="0">
              <a:solidFill>
                <a:schemeClr val="tx1"/>
              </a:solidFill>
            </a:rPr>
            <a:t>.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0.06206</cdr:x>
      <cdr:y>0.35987</cdr:y>
    </cdr:from>
    <cdr:to>
      <cdr:x>0.27791</cdr:x>
      <cdr:y>0.45843</cdr:y>
    </cdr:to>
    <cdr:sp macro="" textlink="">
      <cdr:nvSpPr>
        <cdr:cNvPr id="4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6618FDB8-316D-47F8-B59C-746581051EAC}"/>
            </a:ext>
          </a:extLst>
        </cdr:cNvPr>
        <cdr:cNvSpPr/>
      </cdr:nvSpPr>
      <cdr:spPr>
        <a:xfrm xmlns:a="http://schemas.openxmlformats.org/drawingml/2006/main">
          <a:off x="757760" y="2088508"/>
          <a:ext cx="2635554" cy="571994"/>
        </a:xfrm>
        <a:prstGeom xmlns:a="http://schemas.openxmlformats.org/drawingml/2006/main" prst="wedgeRectCallout">
          <a:avLst>
            <a:gd name="adj1" fmla="val 60549"/>
            <a:gd name="adj2" fmla="val -135633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just"/>
          <a:r>
            <a:rPr lang="en-US" sz="1200" dirty="0">
              <a:solidFill>
                <a:schemeClr val="tx1"/>
              </a:solidFill>
            </a:rPr>
            <a:t>Production Qty. is decreased majorly for Trimol, Met XL, Artefan &amp; DT, Oxybutynin CL ER (approx.16 Cr)</a:t>
          </a:r>
        </a:p>
      </cdr:txBody>
    </cdr:sp>
  </cdr:relSizeAnchor>
  <cdr:relSizeAnchor xmlns:cdr="http://schemas.openxmlformats.org/drawingml/2006/chartDrawing">
    <cdr:from>
      <cdr:x>0.37371</cdr:x>
      <cdr:y>0.40312</cdr:y>
    </cdr:from>
    <cdr:to>
      <cdr:x>0.55506</cdr:x>
      <cdr:y>0.49986</cdr:y>
    </cdr:to>
    <cdr:sp macro="" textlink="">
      <cdr:nvSpPr>
        <cdr:cNvPr id="5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55355B53-4B59-476A-A874-268A1FF73853}"/>
            </a:ext>
          </a:extLst>
        </cdr:cNvPr>
        <cdr:cNvSpPr/>
      </cdr:nvSpPr>
      <cdr:spPr>
        <a:xfrm xmlns:a="http://schemas.openxmlformats.org/drawingml/2006/main">
          <a:off x="4563012" y="2339500"/>
          <a:ext cx="2214305" cy="561431"/>
        </a:xfrm>
        <a:prstGeom xmlns:a="http://schemas.openxmlformats.org/drawingml/2006/main" prst="wedgeRectCallout">
          <a:avLst>
            <a:gd name="adj1" fmla="val 47838"/>
            <a:gd name="adj2" fmla="val -109508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just"/>
          <a:r>
            <a:rPr lang="en-US" sz="1200" dirty="0">
              <a:solidFill>
                <a:schemeClr val="tx1"/>
              </a:solidFill>
            </a:rPr>
            <a:t>Production Qty. is decreased for  Deemed export &amp; Ghana/Kenya (approx. 13 lacs)</a:t>
          </a:r>
        </a:p>
      </cdr:txBody>
    </cdr:sp>
  </cdr:relSizeAnchor>
  <cdr:relSizeAnchor xmlns:cdr="http://schemas.openxmlformats.org/drawingml/2006/chartDrawing">
    <cdr:from>
      <cdr:x>0.82341</cdr:x>
      <cdr:y>0.40915</cdr:y>
    </cdr:from>
    <cdr:to>
      <cdr:x>0.95924</cdr:x>
      <cdr:y>0.50599</cdr:y>
    </cdr:to>
    <cdr:sp macro="" textlink="">
      <cdr:nvSpPr>
        <cdr:cNvPr id="6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55355B53-4B59-476A-A874-268A1FF73853}"/>
            </a:ext>
          </a:extLst>
        </cdr:cNvPr>
        <cdr:cNvSpPr/>
      </cdr:nvSpPr>
      <cdr:spPr>
        <a:xfrm xmlns:a="http://schemas.openxmlformats.org/drawingml/2006/main">
          <a:off x="10053906" y="2374508"/>
          <a:ext cx="1658500" cy="562011"/>
        </a:xfrm>
        <a:prstGeom xmlns:a="http://schemas.openxmlformats.org/drawingml/2006/main" prst="wedgeRectCallout">
          <a:avLst>
            <a:gd name="adj1" fmla="val 35694"/>
            <a:gd name="adj2" fmla="val -117888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just"/>
          <a:r>
            <a:rPr lang="en-US" sz="1200" dirty="0">
              <a:solidFill>
                <a:schemeClr val="tx1"/>
              </a:solidFill>
            </a:rPr>
            <a:t>Production Qty. is decreased for </a:t>
          </a:r>
          <a:r>
            <a:rPr lang="en-US" sz="1200" dirty="0" err="1">
              <a:solidFill>
                <a:schemeClr val="tx1"/>
              </a:solidFill>
            </a:rPr>
            <a:t>Amikcian</a:t>
          </a:r>
          <a:r>
            <a:rPr lang="en-US" sz="1200" dirty="0">
              <a:solidFill>
                <a:schemeClr val="tx1"/>
              </a:solidFill>
            </a:rPr>
            <a:t> (approx. 2 Lacs)</a:t>
          </a:r>
        </a:p>
      </cdr:txBody>
    </cdr:sp>
  </cdr:relSizeAnchor>
  <cdr:relSizeAnchor xmlns:cdr="http://schemas.openxmlformats.org/drawingml/2006/chartDrawing">
    <cdr:from>
      <cdr:x>0.57893</cdr:x>
      <cdr:y>0.40316</cdr:y>
    </cdr:from>
    <cdr:to>
      <cdr:x>0.76457</cdr:x>
      <cdr:y>0.5</cdr:y>
    </cdr:to>
    <cdr:sp macro="" textlink="">
      <cdr:nvSpPr>
        <cdr:cNvPr id="7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0F11A1A7-9C4A-4BC3-8B16-BD6ED4B4FABA}"/>
            </a:ext>
          </a:extLst>
        </cdr:cNvPr>
        <cdr:cNvSpPr/>
      </cdr:nvSpPr>
      <cdr:spPr>
        <a:xfrm xmlns:a="http://schemas.openxmlformats.org/drawingml/2006/main">
          <a:off x="7068859" y="2339742"/>
          <a:ext cx="2266587" cy="562011"/>
        </a:xfrm>
        <a:prstGeom xmlns:a="http://schemas.openxmlformats.org/drawingml/2006/main" prst="wedgeRectCallout">
          <a:avLst>
            <a:gd name="adj1" fmla="val 30354"/>
            <a:gd name="adj2" fmla="val -108316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just"/>
          <a:r>
            <a:rPr lang="en-US" sz="1200" dirty="0">
              <a:solidFill>
                <a:schemeClr val="tx1"/>
              </a:solidFill>
            </a:rPr>
            <a:t>Production Qty. is decreased for </a:t>
          </a:r>
          <a:r>
            <a:rPr lang="en-US" sz="1200" dirty="0" err="1">
              <a:solidFill>
                <a:schemeClr val="tx1"/>
              </a:solidFill>
            </a:rPr>
            <a:t>Melacare</a:t>
          </a:r>
          <a:r>
            <a:rPr lang="en-US" sz="1200" dirty="0">
              <a:solidFill>
                <a:schemeClr val="tx1"/>
              </a:solidFill>
            </a:rPr>
            <a:t>, </a:t>
          </a:r>
          <a:r>
            <a:rPr lang="en-US" sz="1200" dirty="0" err="1">
              <a:solidFill>
                <a:schemeClr val="tx1"/>
              </a:solidFill>
            </a:rPr>
            <a:t>Lucoz</a:t>
          </a:r>
          <a:r>
            <a:rPr lang="en-US" sz="1200" dirty="0">
              <a:solidFill>
                <a:schemeClr val="tx1"/>
              </a:solidFill>
            </a:rPr>
            <a:t> &amp; </a:t>
          </a:r>
          <a:r>
            <a:rPr lang="en-US" sz="1200" dirty="0" err="1">
              <a:solidFill>
                <a:schemeClr val="tx1"/>
              </a:solidFill>
            </a:rPr>
            <a:t>Iflomax</a:t>
          </a:r>
          <a:r>
            <a:rPr lang="en-US" sz="1200" dirty="0">
              <a:solidFill>
                <a:schemeClr val="tx1"/>
              </a:solidFill>
            </a:rPr>
            <a:t> (approx. 3 Lacs)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0.05772</cdr:x>
      <cdr:y>0.56439</cdr:y>
    </cdr:from>
    <cdr:to>
      <cdr:x>0.28562</cdr:x>
      <cdr:y>0.71269</cdr:y>
    </cdr:to>
    <cdr:sp macro="" textlink="">
      <cdr:nvSpPr>
        <cdr:cNvPr id="5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55355B53-4B59-476A-A874-268A1FF73853}"/>
            </a:ext>
          </a:extLst>
        </cdr:cNvPr>
        <cdr:cNvSpPr/>
      </cdr:nvSpPr>
      <cdr:spPr>
        <a:xfrm xmlns:a="http://schemas.openxmlformats.org/drawingml/2006/main">
          <a:off x="704804" y="3275463"/>
          <a:ext cx="2782648" cy="860610"/>
        </a:xfrm>
        <a:prstGeom xmlns:a="http://schemas.openxmlformats.org/drawingml/2006/main" prst="wedgeRectCallout">
          <a:avLst>
            <a:gd name="adj1" fmla="val 78737"/>
            <a:gd name="adj2" fmla="val 42018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tx1"/>
              </a:solidFill>
            </a:rPr>
            <a:t>VOP is decreased due to product transfer to Dahej (Duloxetine DR, Tadalafil) &amp; decrease in demand (Artefan &amp; DT, Metformin, Voriconazole, Sildenafil).</a:t>
          </a:r>
        </a:p>
      </cdr:txBody>
    </cdr:sp>
  </cdr:relSizeAnchor>
  <cdr:relSizeAnchor xmlns:cdr="http://schemas.openxmlformats.org/drawingml/2006/chartDrawing">
    <cdr:from>
      <cdr:x>0.54515</cdr:x>
      <cdr:y>0.44521</cdr:y>
    </cdr:from>
    <cdr:to>
      <cdr:x>0.74008</cdr:x>
      <cdr:y>0.54851</cdr:y>
    </cdr:to>
    <cdr:sp macro="" textlink="">
      <cdr:nvSpPr>
        <cdr:cNvPr id="6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55355B53-4B59-476A-A874-268A1FF73853}"/>
            </a:ext>
          </a:extLst>
        </cdr:cNvPr>
        <cdr:cNvSpPr/>
      </cdr:nvSpPr>
      <cdr:spPr>
        <a:xfrm xmlns:a="http://schemas.openxmlformats.org/drawingml/2006/main">
          <a:off x="6656325" y="2583788"/>
          <a:ext cx="2380118" cy="599503"/>
        </a:xfrm>
        <a:prstGeom xmlns:a="http://schemas.openxmlformats.org/drawingml/2006/main" prst="wedgeRectCallout">
          <a:avLst>
            <a:gd name="adj1" fmla="val 44351"/>
            <a:gd name="adj2" fmla="val -78175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tx1"/>
              </a:solidFill>
            </a:rPr>
            <a:t>VOP is decreased due to decrease in demand (Apcosule capsule, Biba syrup Leocal syrup)</a:t>
          </a:r>
        </a:p>
      </cdr:txBody>
    </cdr:sp>
  </cdr:relSizeAnchor>
  <cdr:relSizeAnchor xmlns:cdr="http://schemas.openxmlformats.org/drawingml/2006/chartDrawing">
    <cdr:from>
      <cdr:x>0.75055</cdr:x>
      <cdr:y>0.06104</cdr:y>
    </cdr:from>
    <cdr:to>
      <cdr:x>0.9328</cdr:x>
      <cdr:y>0.133</cdr:y>
    </cdr:to>
    <cdr:sp macro="" textlink="">
      <cdr:nvSpPr>
        <cdr:cNvPr id="4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204F7720-2C35-4514-9916-701440182324}"/>
            </a:ext>
          </a:extLst>
        </cdr:cNvPr>
        <cdr:cNvSpPr/>
      </cdr:nvSpPr>
      <cdr:spPr>
        <a:xfrm xmlns:a="http://schemas.openxmlformats.org/drawingml/2006/main">
          <a:off x="9164269" y="354258"/>
          <a:ext cx="2225389" cy="417637"/>
        </a:xfrm>
        <a:prstGeom xmlns:a="http://schemas.openxmlformats.org/drawingml/2006/main" prst="wedgeRectCallout">
          <a:avLst>
            <a:gd name="adj1" fmla="val 3598"/>
            <a:gd name="adj2" fmla="val 138929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tx1"/>
              </a:solidFill>
            </a:rPr>
            <a:t>VOP is increased due to increase in demand (Fixim – 4Cr)</a:t>
          </a:r>
        </a:p>
      </cdr:txBody>
    </cdr:sp>
  </cdr:relSizeAnchor>
  <cdr:relSizeAnchor xmlns:cdr="http://schemas.openxmlformats.org/drawingml/2006/chartDrawing">
    <cdr:from>
      <cdr:x>0.79588</cdr:x>
      <cdr:y>0.43213</cdr:y>
    </cdr:from>
    <cdr:to>
      <cdr:x>0.99081</cdr:x>
      <cdr:y>0.53543</cdr:y>
    </cdr:to>
    <cdr:sp macro="" textlink="">
      <cdr:nvSpPr>
        <cdr:cNvPr id="7" name="Rectangular Callout 3">
          <a:extLst xmlns:a="http://schemas.openxmlformats.org/drawingml/2006/main">
            <a:ext uri="{FF2B5EF4-FFF2-40B4-BE49-F238E27FC236}">
              <a16:creationId xmlns:a16="http://schemas.microsoft.com/office/drawing/2014/main" id="{6CE0079C-EC9E-447C-991D-7A1FC380B90C}"/>
            </a:ext>
          </a:extLst>
        </cdr:cNvPr>
        <cdr:cNvSpPr/>
      </cdr:nvSpPr>
      <cdr:spPr>
        <a:xfrm xmlns:a="http://schemas.openxmlformats.org/drawingml/2006/main">
          <a:off x="9717751" y="2507872"/>
          <a:ext cx="2380118" cy="599503"/>
        </a:xfrm>
        <a:prstGeom xmlns:a="http://schemas.openxmlformats.org/drawingml/2006/main" prst="wedgeRectCallout">
          <a:avLst>
            <a:gd name="adj1" fmla="val 17231"/>
            <a:gd name="adj2" fmla="val -138737"/>
          </a:avLst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5400">
          <a:solidFill>
            <a:schemeClr val="tx1">
              <a:lumMod val="50000"/>
              <a:lumOff val="50000"/>
            </a:schemeClr>
          </a:solidFill>
          <a:prstDash val="sysDash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US" sz="1200" dirty="0">
              <a:solidFill>
                <a:schemeClr val="tx1"/>
              </a:solidFill>
            </a:rPr>
            <a:t>VOP is increased due to increase in demand (</a:t>
          </a:r>
          <a:r>
            <a:rPr lang="en-US" sz="1200" dirty="0" err="1">
              <a:solidFill>
                <a:schemeClr val="tx1"/>
              </a:solidFill>
            </a:rPr>
            <a:t>Rosutor</a:t>
          </a:r>
          <a:r>
            <a:rPr lang="en-US" sz="1200" dirty="0">
              <a:solidFill>
                <a:schemeClr val="tx1"/>
              </a:solidFill>
            </a:rPr>
            <a:t> Gold &amp; </a:t>
          </a:r>
          <a:r>
            <a:rPr lang="en-US" sz="1200" dirty="0" err="1">
              <a:solidFill>
                <a:schemeClr val="tx1"/>
              </a:solidFill>
            </a:rPr>
            <a:t>Dospin</a:t>
          </a:r>
          <a:r>
            <a:rPr lang="en-US" sz="1200" dirty="0">
              <a:solidFill>
                <a:schemeClr val="tx1"/>
              </a:solidFill>
            </a:rPr>
            <a:t> A Forte, </a:t>
          </a:r>
          <a:r>
            <a:rPr lang="en-US" sz="1200" dirty="0" err="1">
              <a:solidFill>
                <a:schemeClr val="tx1"/>
              </a:solidFill>
            </a:rPr>
            <a:t>Dospin</a:t>
          </a:r>
          <a:r>
            <a:rPr lang="en-US" sz="1200" dirty="0">
              <a:solidFill>
                <a:schemeClr val="tx1"/>
              </a:solidFill>
            </a:rPr>
            <a:t> A, </a:t>
          </a:r>
          <a:r>
            <a:rPr lang="en-US" sz="1200" dirty="0" err="1">
              <a:solidFill>
                <a:schemeClr val="tx1"/>
              </a:solidFill>
            </a:rPr>
            <a:t>Zorbax</a:t>
          </a:r>
          <a:r>
            <a:rPr lang="en-US" sz="1200" dirty="0">
              <a:solidFill>
                <a:schemeClr val="tx1"/>
              </a:solidFill>
            </a:rPr>
            <a:t> – 6 Cr)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6005-727F-40A4-B140-54A63EC52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260FC-AE24-4A3E-A696-F7EF7C8CC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28364-6693-4A51-A1D4-BE384CB9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3A24-C8F2-4BFD-B6A3-21D83A765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CE32-3D2F-4C29-926D-8F7005C5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7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8D37-374B-478F-A335-4941ABAFC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07B9A-4EE1-4B4B-83FA-387BC66FB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2E501-E1DE-4BB0-88FE-4925FA30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E03C1-4984-4E6A-9A25-13D1FE14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4FC51-9BFB-4716-AA4E-BD4EA2D9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5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2A77-6B04-4C6F-8A53-BBFD5A1F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30BBA-C81F-4597-8A9B-AF3061570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F7BAA-CA1B-47F3-AD94-AA2D50E4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A380-C9C2-48E9-AE96-E6332676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08527-CDAB-4D05-A22C-7268D612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672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0790-45E5-4BAF-9EF1-FE64AC89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577BD-D1B3-4AD4-8D09-EC04A3EDF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98956-63A1-4F15-BEFE-4E05B2ED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6AB87-9E8B-4AE6-A7B6-48BFDC43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B877B-6240-4F16-B7E3-BFA98EA5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F43017-8125-4913-87BC-FA1B47AE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39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2FAEB-BE1F-4487-8FCB-8DF37640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B1A38-F2F6-486C-84BD-FDA0076E8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6A713-6B33-4965-809B-1945F875E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48FEA-0781-420D-9C14-CA05929E6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C95C4-FD99-4355-9650-7EE96ECAC3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E33DB1-F411-4932-8BC5-D67F6AF22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83821-23FE-41F9-B148-541243A67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60BFBF-3129-4AE9-8CCF-EDEF0B3C0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1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8B431-0E04-46B3-B485-51C61B21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2A17B-370F-44CC-AAD3-39D4A95D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5FEF0-3E10-4509-9ECD-DBC20E29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18B0B-3D5A-4C84-8EA2-5B0B681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1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349DB-D154-4625-B811-08B0183F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D06512-073D-4E26-A80E-8635456B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66618-CB3E-43CE-BEA3-45D1E009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07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1A36-CF9F-41F5-9166-05DF53BAE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A54F8-3523-443E-8C9F-4B89A9D7F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7A085-D26D-46EE-BC78-259B706D6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19B96-76EA-4B36-9B78-D794456CD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C5584-6C22-44B4-873A-BE648D06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B4A4E-B491-475B-BCD3-3BDB81DA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15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01E0-48A1-422C-84DB-20D52C8B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B4D66-0999-4DE1-9B0B-1260A00BA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B2ADD-201C-4771-9E0B-7B4F688EB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67130-A79E-4949-928F-FE9ADEB41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946F6-4868-48E4-82CE-FB01639FB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8ACB7-99AC-49EF-A4D5-54577F712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124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6E4E-2AD5-4A64-A8B0-A8924D2F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61F2A-AA10-4882-9079-ED55B1FDA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9FAB5-676A-4191-90F3-6357FD16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684F0-BC04-4E01-80F6-CB37B40F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EEB82-C51A-467D-A6EA-0D91C2B77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38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4D81C-BDCF-4405-8029-8AF9F0ED0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DC4BC-275C-4EF7-B278-02B974125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6EF5-9CFD-4DF1-8496-CA1DF1B3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74D18-7FBC-4A83-B8F3-895BC9B88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92D7D-A430-4DE6-84C8-D132BD42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44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E11E99-EEC9-4630-931D-94B3200B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459C2-AC8C-4105-B6DD-4AA5CB143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1E134-C17B-44D3-921C-FDE080E3B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E1C63-CA6F-407D-A059-1EA3D8821E54}" type="datetimeFigureOut">
              <a:rPr lang="en-IN" smtClean="0"/>
              <a:t>27/05/2022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F44731-AC53-4DF4-8BD9-F6961C844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FE876-811C-485C-9B1D-0DEABB09E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FE6D1-ABE6-4567-BE02-014DAE616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43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F89D4F-FA2A-4E2E-9A55-528A35DE2D64}"/>
              </a:ext>
            </a:extLst>
          </p:cNvPr>
          <p:cNvSpPr/>
          <p:nvPr/>
        </p:nvSpPr>
        <p:spPr>
          <a:xfrm>
            <a:off x="0" y="-13548"/>
            <a:ext cx="12210118" cy="10680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E2EE4-C619-47C6-A9DF-A01B02CA04A2}"/>
              </a:ext>
            </a:extLst>
          </p:cNvPr>
          <p:cNvSpPr/>
          <p:nvPr/>
        </p:nvSpPr>
        <p:spPr>
          <a:xfrm>
            <a:off x="4105" y="-13143"/>
            <a:ext cx="2376024" cy="1068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CDD37A-D0A8-4B18-8648-0F35C6D8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11" y="290062"/>
            <a:ext cx="1482312" cy="6348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D33026D-9016-45F6-8974-1753596E12A4}"/>
              </a:ext>
            </a:extLst>
          </p:cNvPr>
          <p:cNvSpPr txBox="1">
            <a:spLocks/>
          </p:cNvSpPr>
          <p:nvPr/>
        </p:nvSpPr>
        <p:spPr>
          <a:xfrm>
            <a:off x="2485635" y="131891"/>
            <a:ext cx="9612235" cy="804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US" sz="2400" u="non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2300" b="1" dirty="0"/>
              <a:t>Plant wise VOP Vs Inventory turn for Apr-22 ( only APL)</a:t>
            </a:r>
            <a:endParaRPr lang="en-US" sz="23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60FCAD-897F-4716-8748-027C77F18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824989"/>
              </p:ext>
            </p:extLst>
          </p:nvPr>
        </p:nvGraphicFramePr>
        <p:xfrm>
          <a:off x="0" y="1081588"/>
          <a:ext cx="12192000" cy="5776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ular Callout 3">
            <a:extLst>
              <a:ext uri="{FF2B5EF4-FFF2-40B4-BE49-F238E27FC236}">
                <a16:creationId xmlns:a16="http://schemas.microsoft.com/office/drawing/2014/main" id="{D984D13B-FD52-4C24-B1B7-DC11A6A73F6B}"/>
              </a:ext>
            </a:extLst>
          </p:cNvPr>
          <p:cNvSpPr/>
          <p:nvPr/>
        </p:nvSpPr>
        <p:spPr>
          <a:xfrm>
            <a:off x="5181602" y="1855842"/>
            <a:ext cx="3518645" cy="1246336"/>
          </a:xfrm>
          <a:prstGeom prst="wedgeRectCallout">
            <a:avLst>
              <a:gd name="adj1" fmla="val -67719"/>
              <a:gd name="adj2" fmla="val -37592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After excluding Control/stability stock/ FG stock-Retain till ANDA approval/ Validation stock/ Approved Destruction (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Major ANDA validation batches)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/Sale stock (44 Cr) , </a:t>
            </a:r>
            <a:r>
              <a:rPr lang="en-US" sz="1200" b="1" dirty="0">
                <a:solidFill>
                  <a:schemeClr val="tx1"/>
                </a:solidFill>
              </a:rPr>
              <a:t>Inventory Turn will be </a:t>
            </a:r>
            <a:r>
              <a:rPr lang="en-US" sz="1400" b="1" dirty="0">
                <a:solidFill>
                  <a:schemeClr val="tx1"/>
                </a:solidFill>
              </a:rPr>
              <a:t>4 month</a:t>
            </a:r>
            <a:r>
              <a:rPr lang="en-US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0" name="Rectangular Callout 3">
            <a:extLst>
              <a:ext uri="{FF2B5EF4-FFF2-40B4-BE49-F238E27FC236}">
                <a16:creationId xmlns:a16="http://schemas.microsoft.com/office/drawing/2014/main" id="{6618FDB8-316D-47F8-B59C-746581051EAC}"/>
              </a:ext>
            </a:extLst>
          </p:cNvPr>
          <p:cNvSpPr/>
          <p:nvPr/>
        </p:nvSpPr>
        <p:spPr>
          <a:xfrm>
            <a:off x="107627" y="1855842"/>
            <a:ext cx="2635574" cy="1495046"/>
          </a:xfrm>
          <a:prstGeom prst="wedgeRectCallout">
            <a:avLst>
              <a:gd name="adj1" fmla="val 56465"/>
              <a:gd name="adj2" fmla="val -35985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After excluding Control/stability stock/ FG stock-Retain till ANDA approval/ Validation stock/ Approved Destruction (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Major ANDA validation batches)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 (30 Cr) , </a:t>
            </a:r>
            <a:r>
              <a:rPr lang="en-US" sz="1200" b="1" dirty="0">
                <a:solidFill>
                  <a:schemeClr val="tx1"/>
                </a:solidFill>
              </a:rPr>
              <a:t>Inventory Turn will be </a:t>
            </a:r>
            <a:r>
              <a:rPr lang="en-US" sz="1400" b="1" dirty="0">
                <a:solidFill>
                  <a:schemeClr val="tx1"/>
                </a:solidFill>
              </a:rPr>
              <a:t>4 month</a:t>
            </a:r>
            <a:r>
              <a:rPr lang="en-US" sz="12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7A070806-5A92-45CD-802D-3A35A2C72AAA}"/>
              </a:ext>
            </a:extLst>
          </p:cNvPr>
          <p:cNvSpPr/>
          <p:nvPr/>
        </p:nvSpPr>
        <p:spPr>
          <a:xfrm>
            <a:off x="779929" y="1250657"/>
            <a:ext cx="9816304" cy="293892"/>
          </a:xfrm>
          <a:prstGeom prst="homePlate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In April-22, average per month VOP is decreased for Paithan from 67 Cr to 41 Cr &amp; for Dahej – from 48 Cr to 42 Cr</a:t>
            </a:r>
            <a:endParaRPr lang="en-IN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86025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F89D4F-FA2A-4E2E-9A55-528A35DE2D64}"/>
              </a:ext>
            </a:extLst>
          </p:cNvPr>
          <p:cNvSpPr/>
          <p:nvPr/>
        </p:nvSpPr>
        <p:spPr>
          <a:xfrm>
            <a:off x="0" y="-13548"/>
            <a:ext cx="12210118" cy="10680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E2EE4-C619-47C6-A9DF-A01B02CA04A2}"/>
              </a:ext>
            </a:extLst>
          </p:cNvPr>
          <p:cNvSpPr/>
          <p:nvPr/>
        </p:nvSpPr>
        <p:spPr>
          <a:xfrm>
            <a:off x="4105" y="-13143"/>
            <a:ext cx="2376024" cy="1068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CDD37A-D0A8-4B18-8648-0F35C6D8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11" y="290062"/>
            <a:ext cx="1482312" cy="6348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D33026D-9016-45F6-8974-1753596E12A4}"/>
              </a:ext>
            </a:extLst>
          </p:cNvPr>
          <p:cNvSpPr txBox="1">
            <a:spLocks/>
          </p:cNvSpPr>
          <p:nvPr/>
        </p:nvSpPr>
        <p:spPr>
          <a:xfrm>
            <a:off x="2380129" y="131891"/>
            <a:ext cx="9807766" cy="804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US" sz="2400" u="non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b="1" dirty="0"/>
              <a:t>Production Qty (Dosage wise) - YTD Comparative Difference FY 2022-23 </a:t>
            </a:r>
          </a:p>
          <a:p>
            <a:pPr algn="ctr"/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(Apr-21 Vs Apr-22)</a:t>
            </a:r>
            <a:endParaRPr lang="en-US" sz="1800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60FCAD-897F-4716-8748-027C77F18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151261"/>
              </p:ext>
            </p:extLst>
          </p:nvPr>
        </p:nvGraphicFramePr>
        <p:xfrm>
          <a:off x="1" y="1054492"/>
          <a:ext cx="12210117" cy="5803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Rectangular Callout 3">
            <a:extLst>
              <a:ext uri="{FF2B5EF4-FFF2-40B4-BE49-F238E27FC236}">
                <a16:creationId xmlns:a16="http://schemas.microsoft.com/office/drawing/2014/main" id="{20E57A5F-9940-4670-8482-2C6C6466B161}"/>
              </a:ext>
            </a:extLst>
          </p:cNvPr>
          <p:cNvSpPr/>
          <p:nvPr/>
        </p:nvSpPr>
        <p:spPr>
          <a:xfrm>
            <a:off x="147942" y="1199932"/>
            <a:ext cx="6629376" cy="417637"/>
          </a:xfrm>
          <a:prstGeom prst="wedgeRectCallout">
            <a:avLst>
              <a:gd name="adj1" fmla="val 48464"/>
              <a:gd name="adj2" fmla="val 21139"/>
            </a:avLst>
          </a:prstGeom>
          <a:solidFill>
            <a:schemeClr val="bg2">
              <a:lumMod val="25000"/>
            </a:schemeClr>
          </a:solidFill>
          <a:ln w="254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In Apr-22, Overall production quantity </a:t>
            </a:r>
            <a:r>
              <a:rPr lang="en-US" sz="2000" b="1" dirty="0"/>
              <a:t>decrease by 9 Cr (17%)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90583029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F89D4F-FA2A-4E2E-9A55-528A35DE2D64}"/>
              </a:ext>
            </a:extLst>
          </p:cNvPr>
          <p:cNvSpPr/>
          <p:nvPr/>
        </p:nvSpPr>
        <p:spPr>
          <a:xfrm>
            <a:off x="0" y="-13548"/>
            <a:ext cx="12210118" cy="10680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9E2EE4-C619-47C6-A9DF-A01B02CA04A2}"/>
              </a:ext>
            </a:extLst>
          </p:cNvPr>
          <p:cNvSpPr/>
          <p:nvPr/>
        </p:nvSpPr>
        <p:spPr>
          <a:xfrm>
            <a:off x="4105" y="-13143"/>
            <a:ext cx="2376024" cy="10680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CDD37A-D0A8-4B18-8648-0F35C6D8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11" y="290062"/>
            <a:ext cx="1482312" cy="6348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D33026D-9016-45F6-8974-1753596E12A4}"/>
              </a:ext>
            </a:extLst>
          </p:cNvPr>
          <p:cNvSpPr txBox="1">
            <a:spLocks/>
          </p:cNvSpPr>
          <p:nvPr/>
        </p:nvSpPr>
        <p:spPr>
          <a:xfrm>
            <a:off x="2485635" y="131891"/>
            <a:ext cx="9612235" cy="8042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lang="en-US" sz="2400" u="none" dirty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b="1" dirty="0"/>
              <a:t>VOP (Plant wise) - YTD Comparative Difference FY 2022-23 </a:t>
            </a:r>
            <a:r>
              <a:rPr lang="en-US" sz="1800" b="1" dirty="0">
                <a:solidFill>
                  <a:schemeClr val="bg1">
                    <a:lumMod val="65000"/>
                  </a:schemeClr>
                </a:solidFill>
              </a:rPr>
              <a:t>(Apr-21 Vs Apr-22)</a:t>
            </a:r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E60FCAD-897F-4716-8748-027C77F186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2960958"/>
              </p:ext>
            </p:extLst>
          </p:nvPr>
        </p:nvGraphicFramePr>
        <p:xfrm>
          <a:off x="1" y="1054492"/>
          <a:ext cx="12210117" cy="5803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Rectangular Callout 3">
            <a:extLst>
              <a:ext uri="{FF2B5EF4-FFF2-40B4-BE49-F238E27FC236}">
                <a16:creationId xmlns:a16="http://schemas.microsoft.com/office/drawing/2014/main" id="{20E57A5F-9940-4670-8482-2C6C6466B161}"/>
              </a:ext>
            </a:extLst>
          </p:cNvPr>
          <p:cNvSpPr/>
          <p:nvPr/>
        </p:nvSpPr>
        <p:spPr>
          <a:xfrm>
            <a:off x="147942" y="1199932"/>
            <a:ext cx="6629376" cy="417637"/>
          </a:xfrm>
          <a:prstGeom prst="wedgeRectCallout">
            <a:avLst>
              <a:gd name="adj1" fmla="val 48464"/>
              <a:gd name="adj2" fmla="val 21139"/>
            </a:avLst>
          </a:prstGeom>
          <a:solidFill>
            <a:schemeClr val="bg2">
              <a:lumMod val="25000"/>
            </a:schemeClr>
          </a:solidFill>
          <a:ln w="25400" cmpd="sng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In Apr-22, Overall value of production </a:t>
            </a:r>
            <a:r>
              <a:rPr lang="en-US" sz="2000" b="1" dirty="0"/>
              <a:t>decrease by 4 Cr (2%)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0015654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393</Words>
  <Application>Microsoft Office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Gawde</dc:creator>
  <cp:lastModifiedBy>Sanjay Gawde</cp:lastModifiedBy>
  <cp:revision>144</cp:revision>
  <dcterms:created xsi:type="dcterms:W3CDTF">2022-02-11T06:25:32Z</dcterms:created>
  <dcterms:modified xsi:type="dcterms:W3CDTF">2022-05-27T09:27:09Z</dcterms:modified>
</cp:coreProperties>
</file>